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4754880" cy="4754880"/>
          </a:xfrm>
          <a:prstGeom prst="ellipse">
            <a:avLst/>
          </a:prstGeom>
          <a:solidFill>
            <a:srgbClr val="EE7C4B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182880"/>
            <a:ext cx="2743200" cy="2743200"/>
          </a:xfrm>
          <a:prstGeom prst="ellipse">
            <a:avLst/>
          </a:prstGeom>
          <a:solidFill>
            <a:srgbClr val="D95A2B"/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3840480"/>
            <a:ext cx="2011680" cy="2011680"/>
          </a:xfrm>
          <a:prstGeom prst="ellipse">
            <a:avLst/>
          </a:prstGeom>
          <a:solidFill>
            <a:srgbClr val="EE7C4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868680"/>
            <a:ext cx="457200" cy="54864"/>
          </a:xfrm>
          <a:prstGeom prst="rect">
            <a:avLst/>
          </a:prstGeom>
          <a:solidFill>
            <a:srgbClr val="EE7C4B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731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5C9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MCLAW · 内部解读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E7C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mclaw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面向地铁行业的图形化 AI 桌面助手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41248" y="3977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C9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把命令行 AI 编排能力，变成开箱即用的桌面体验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5943600"/>
            <a:ext cx="6400800" cy="0"/>
          </a:xfrm>
          <a:prstGeom prst="line">
            <a:avLst/>
          </a:prstGeom>
          <a:noFill/>
          <a:ln w="9525">
            <a:solidFill>
              <a:srgbClr val="4A3F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6035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向全公司解读与共创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18872" cy="566928"/>
          </a:xfrm>
          <a:prstGeom prst="rect">
            <a:avLst/>
          </a:prstGeom>
          <a:solidFill>
            <a:srgbClr val="EE7C4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212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25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777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本次解读六个部分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47472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38100" dir="5400000">
              <a:srgbClr val="1F1A17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73152" cy="1691640"/>
          </a:xfrm>
          <a:prstGeom prst="rect">
            <a:avLst/>
          </a:prstGeom>
          <a:solidFill>
            <a:srgbClr val="EE7C4B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1947672"/>
            <a:ext cx="566928" cy="566928"/>
          </a:xfrm>
          <a:prstGeom prst="ellipse">
            <a:avLst/>
          </a:prstGeom>
          <a:solidFill>
            <a:srgbClr val="EE7C4B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9476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64" dirty="0"/>
          </a:p>
        </p:txBody>
      </p:sp>
      <p:sp>
        <p:nvSpPr>
          <p:cNvPr id="9" name="Text 7"/>
          <p:cNvSpPr/>
          <p:nvPr/>
        </p:nvSpPr>
        <p:spPr>
          <a:xfrm>
            <a:off x="1508760" y="19842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是什么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08760" y="244144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产品定位与一句话价值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52544" y="1691640"/>
            <a:ext cx="347472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38100" dir="5400000">
              <a:srgbClr val="1F1A17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52544" y="1691640"/>
            <a:ext cx="73152" cy="1691640"/>
          </a:xfrm>
          <a:prstGeom prst="rect">
            <a:avLst/>
          </a:prstGeom>
          <a:solidFill>
            <a:srgbClr val="EE7C4B"/>
          </a:solidFill>
          <a:ln/>
        </p:spPr>
      </p:sp>
      <p:sp>
        <p:nvSpPr>
          <p:cNvPr id="13" name="Shape 11"/>
          <p:cNvSpPr/>
          <p:nvPr/>
        </p:nvSpPr>
        <p:spPr>
          <a:xfrm>
            <a:off x="4608576" y="1947672"/>
            <a:ext cx="566928" cy="566928"/>
          </a:xfrm>
          <a:prstGeom prst="ellipse">
            <a:avLst/>
          </a:prstGeom>
          <a:solidFill>
            <a:srgbClr val="EE7C4B"/>
          </a:solidFill>
          <a:ln/>
        </p:spPr>
      </p:sp>
      <p:sp>
        <p:nvSpPr>
          <p:cNvPr id="14" name="Text 12"/>
          <p:cNvSpPr/>
          <p:nvPr/>
        </p:nvSpPr>
        <p:spPr>
          <a:xfrm>
            <a:off x="4608576" y="19476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64" dirty="0"/>
          </a:p>
        </p:txBody>
      </p:sp>
      <p:sp>
        <p:nvSpPr>
          <p:cNvPr id="15" name="Text 13"/>
          <p:cNvSpPr/>
          <p:nvPr/>
        </p:nvSpPr>
        <p:spPr>
          <a:xfrm>
            <a:off x="5312664" y="19842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有什么用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12664" y="244144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核心能力与地铁特色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56448" y="1691640"/>
            <a:ext cx="347472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38100" dir="5400000">
              <a:srgbClr val="1F1A17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56448" y="1691640"/>
            <a:ext cx="73152" cy="1691640"/>
          </a:xfrm>
          <a:prstGeom prst="rect">
            <a:avLst/>
          </a:prstGeom>
          <a:solidFill>
            <a:srgbClr val="EE7C4B"/>
          </a:solidFill>
          <a:ln/>
        </p:spPr>
      </p:sp>
      <p:sp>
        <p:nvSpPr>
          <p:cNvPr id="19" name="Shape 17"/>
          <p:cNvSpPr/>
          <p:nvPr/>
        </p:nvSpPr>
        <p:spPr>
          <a:xfrm>
            <a:off x="8412480" y="1947672"/>
            <a:ext cx="566928" cy="566928"/>
          </a:xfrm>
          <a:prstGeom prst="ellipse">
            <a:avLst/>
          </a:prstGeom>
          <a:solidFill>
            <a:srgbClr val="EE7C4B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0" y="19476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64" dirty="0"/>
          </a:p>
        </p:txBody>
      </p:sp>
      <p:sp>
        <p:nvSpPr>
          <p:cNvPr id="21" name="Text 19"/>
          <p:cNvSpPr/>
          <p:nvPr/>
        </p:nvSpPr>
        <p:spPr>
          <a:xfrm>
            <a:off x="9116568" y="19842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怎么想的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16568" y="244144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产品思路与取舍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703320"/>
            <a:ext cx="347472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38100" dir="5400000">
              <a:srgbClr val="1F1A17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3703320"/>
            <a:ext cx="73152" cy="1691640"/>
          </a:xfrm>
          <a:prstGeom prst="rect">
            <a:avLst/>
          </a:prstGeom>
          <a:solidFill>
            <a:srgbClr val="EE7C4B"/>
          </a:solidFill>
          <a:ln/>
        </p:spPr>
      </p:sp>
      <p:sp>
        <p:nvSpPr>
          <p:cNvPr id="25" name="Shape 23"/>
          <p:cNvSpPr/>
          <p:nvPr/>
        </p:nvSpPr>
        <p:spPr>
          <a:xfrm>
            <a:off x="804672" y="3959352"/>
            <a:ext cx="566928" cy="566928"/>
          </a:xfrm>
          <a:prstGeom prst="ellipse">
            <a:avLst/>
          </a:prstGeom>
          <a:solidFill>
            <a:srgbClr val="EE7C4B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" y="3959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64" dirty="0"/>
          </a:p>
        </p:txBody>
      </p:sp>
      <p:sp>
        <p:nvSpPr>
          <p:cNvPr id="27" name="Text 25"/>
          <p:cNvSpPr/>
          <p:nvPr/>
        </p:nvSpPr>
        <p:spPr>
          <a:xfrm>
            <a:off x="1508760" y="399592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借鉴了谁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508760" y="445312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参考对象与对标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352544" y="3703320"/>
            <a:ext cx="347472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38100" dir="5400000">
              <a:srgbClr val="1F1A17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352544" y="3703320"/>
            <a:ext cx="73152" cy="1691640"/>
          </a:xfrm>
          <a:prstGeom prst="rect">
            <a:avLst/>
          </a:prstGeom>
          <a:solidFill>
            <a:srgbClr val="EE7C4B"/>
          </a:solidFill>
          <a:ln/>
        </p:spPr>
      </p:sp>
      <p:sp>
        <p:nvSpPr>
          <p:cNvPr id="31" name="Shape 29"/>
          <p:cNvSpPr/>
          <p:nvPr/>
        </p:nvSpPr>
        <p:spPr>
          <a:xfrm>
            <a:off x="4608576" y="3959352"/>
            <a:ext cx="566928" cy="566928"/>
          </a:xfrm>
          <a:prstGeom prst="ellipse">
            <a:avLst/>
          </a:prstGeom>
          <a:solidFill>
            <a:srgbClr val="EE7C4B"/>
          </a:solidFill>
          <a:ln/>
        </p:spPr>
      </p:sp>
      <p:sp>
        <p:nvSpPr>
          <p:cNvPr id="32" name="Text 30"/>
          <p:cNvSpPr/>
          <p:nvPr/>
        </p:nvSpPr>
        <p:spPr>
          <a:xfrm>
            <a:off x="4608576" y="3959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364" dirty="0"/>
          </a:p>
        </p:txBody>
      </p:sp>
      <p:sp>
        <p:nvSpPr>
          <p:cNvPr id="33" name="Text 31"/>
          <p:cNvSpPr/>
          <p:nvPr/>
        </p:nvSpPr>
        <p:spPr>
          <a:xfrm>
            <a:off x="5312664" y="399592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怎么运转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312664" y="445312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架构与业务流程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156448" y="3703320"/>
            <a:ext cx="347472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38100" dir="5400000">
              <a:srgbClr val="1F1A17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156448" y="3703320"/>
            <a:ext cx="73152" cy="1691640"/>
          </a:xfrm>
          <a:prstGeom prst="rect">
            <a:avLst/>
          </a:prstGeom>
          <a:solidFill>
            <a:srgbClr val="EE7C4B"/>
          </a:solidFill>
          <a:ln/>
        </p:spPr>
      </p:sp>
      <p:sp>
        <p:nvSpPr>
          <p:cNvPr id="37" name="Shape 35"/>
          <p:cNvSpPr/>
          <p:nvPr/>
        </p:nvSpPr>
        <p:spPr>
          <a:xfrm>
            <a:off x="8412480" y="3959352"/>
            <a:ext cx="566928" cy="566928"/>
          </a:xfrm>
          <a:prstGeom prst="ellipse">
            <a:avLst/>
          </a:prstGeom>
          <a:solidFill>
            <a:srgbClr val="EE7C4B"/>
          </a:solidFill>
          <a:ln/>
        </p:spPr>
      </p:sp>
      <p:sp>
        <p:nvSpPr>
          <p:cNvPr id="38" name="Text 36"/>
          <p:cNvSpPr/>
          <p:nvPr/>
        </p:nvSpPr>
        <p:spPr>
          <a:xfrm>
            <a:off x="8412480" y="3959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364" dirty="0"/>
          </a:p>
        </p:txBody>
      </p:sp>
      <p:sp>
        <p:nvSpPr>
          <p:cNvPr id="39" name="Text 37"/>
          <p:cNvSpPr/>
          <p:nvPr/>
        </p:nvSpPr>
        <p:spPr>
          <a:xfrm>
            <a:off x="9116568" y="399592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一起共创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9116568" y="445312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邀请全员参与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8640" y="6473952"/>
            <a:ext cx="11091672" cy="0"/>
          </a:xfrm>
          <a:prstGeom prst="line">
            <a:avLst/>
          </a:prstGeom>
          <a:noFill/>
          <a:ln w="9525">
            <a:solidFill>
              <a:srgbClr val="E8E0D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mclaw · 内部解读与共创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515600" y="6510528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8872" cy="566928"/>
          </a:xfrm>
          <a:prstGeom prst="rect">
            <a:avLst/>
          </a:prstGeom>
          <a:solidFill>
            <a:srgbClr val="EE7C4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25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 · 是什么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7315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mclaw 是什么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25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一句话定位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</a:t>
            </a:r>
            <a:pPr indent="0" marL="0">
              <a:buNone/>
            </a:pPr>
            <a:r>
              <a:rPr lang="en-US" sz="2400" b="1" dirty="0">
                <a:solidFill>
                  <a:srgbClr val="EE7C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</a:t>
            </a:r>
            <a:pPr indent="0" marL="0">
              <a:buNone/>
            </a:pPr>
            <a:r>
              <a:rPr lang="en-US" sz="24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二次开发的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图形化 AI 桌面助手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专为地铁行业定制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406908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欧孚士产品生态的统一客户端--连接旗下所有产品，技能与专家可在其他 AI 系统运行。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589520" y="1554480"/>
            <a:ext cx="40233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38100" dir="5400000">
              <a:srgbClr val="1F1A17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0" y="1746504"/>
            <a:ext cx="274320" cy="274320"/>
          </a:xfrm>
          <a:prstGeom prst="ellipse">
            <a:avLst/>
          </a:prstGeom>
          <a:solidFill>
            <a:srgbClr val="EE7C4B"/>
          </a:solidFill>
          <a:ln/>
        </p:spPr>
      </p:sp>
      <p:sp>
        <p:nvSpPr>
          <p:cNvPr id="11" name="Text 9"/>
          <p:cNvSpPr/>
          <p:nvPr/>
        </p:nvSpPr>
        <p:spPr>
          <a:xfrm>
            <a:off x="8183880" y="160934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图形化桌面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83880" y="1901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鼠标即用，告别命令行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589520" y="2322576"/>
            <a:ext cx="40233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38100" dir="5400000">
              <a:srgbClr val="1F1A17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0" y="2514600"/>
            <a:ext cx="274320" cy="274320"/>
          </a:xfrm>
          <a:prstGeom prst="ellipse">
            <a:avLst/>
          </a:prstGeom>
          <a:solidFill>
            <a:srgbClr val="3A6B5A"/>
          </a:solidFill>
          <a:ln/>
        </p:spPr>
      </p:sp>
      <p:sp>
        <p:nvSpPr>
          <p:cNvPr id="15" name="Text 13"/>
          <p:cNvSpPr/>
          <p:nvPr/>
        </p:nvSpPr>
        <p:spPr>
          <a:xfrm>
            <a:off x="8183880" y="23774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开箱即用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83880" y="26700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设置向导，零配置上手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589520" y="3090672"/>
            <a:ext cx="40233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38100" dir="5400000">
              <a:srgbClr val="1F1A17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0" y="3282696"/>
            <a:ext cx="274320" cy="274320"/>
          </a:xfrm>
          <a:prstGeom prst="ellipse">
            <a:avLst/>
          </a:prstGeom>
          <a:solidFill>
            <a:srgbClr val="C9954A"/>
          </a:solidFill>
          <a:ln/>
        </p:spPr>
      </p:sp>
      <p:sp>
        <p:nvSpPr>
          <p:cNvPr id="19" name="Text 17"/>
          <p:cNvSpPr/>
          <p:nvPr/>
        </p:nvSpPr>
        <p:spPr>
          <a:xfrm>
            <a:off x="8183880" y="314553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地铁行业定制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83880" y="34381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预装数据查询与专家灵魂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589520" y="3858768"/>
            <a:ext cx="40233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38100" dir="5400000">
              <a:srgbClr val="1F1A17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72400" y="4050792"/>
            <a:ext cx="274320" cy="274320"/>
          </a:xfrm>
          <a:prstGeom prst="ellipse">
            <a:avLst/>
          </a:prstGeom>
          <a:solidFill>
            <a:srgbClr val="345B7A"/>
          </a:solidFill>
          <a:ln/>
        </p:spPr>
      </p:sp>
      <p:sp>
        <p:nvSpPr>
          <p:cNvPr id="23" name="Text 21"/>
          <p:cNvSpPr/>
          <p:nvPr/>
        </p:nvSpPr>
        <p:spPr>
          <a:xfrm>
            <a:off x="8183880" y="39136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多模型接入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83880" y="4206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 智能模型路由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589520" y="4626864"/>
            <a:ext cx="40233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38100" dir="5400000">
              <a:srgbClr val="1F1A17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72400" y="4818888"/>
            <a:ext cx="274320" cy="274320"/>
          </a:xfrm>
          <a:prstGeom prst="ellipse">
            <a:avLst/>
          </a:prstGeom>
          <a:solidFill>
            <a:srgbClr val="D95A2B"/>
          </a:solidFill>
          <a:ln/>
        </p:spPr>
      </p:sp>
      <p:sp>
        <p:nvSpPr>
          <p:cNvPr id="27" name="Text 25"/>
          <p:cNvSpPr/>
          <p:nvPr/>
        </p:nvSpPr>
        <p:spPr>
          <a:xfrm>
            <a:off x="8183880" y="46817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开放生态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183880" y="497433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连欧孚士所有产品，技能可移植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589520" y="5394960"/>
            <a:ext cx="40233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38100" dir="5400000">
              <a:srgbClr val="1F1A17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772400" y="5586984"/>
            <a:ext cx="274320" cy="274320"/>
          </a:xfrm>
          <a:prstGeom prst="ellipse">
            <a:avLst/>
          </a:prstGeom>
          <a:solidFill>
            <a:srgbClr val="6B6259"/>
          </a:solidFill>
          <a:ln/>
        </p:spPr>
      </p:sp>
      <p:sp>
        <p:nvSpPr>
          <p:cNvPr id="31" name="Text 29"/>
          <p:cNvSpPr/>
          <p:nvPr/>
        </p:nvSpPr>
        <p:spPr>
          <a:xfrm>
            <a:off x="8183880" y="544982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安全计费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183880" y="57424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登录才能用，防白嫖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48640" y="6473952"/>
            <a:ext cx="11091672" cy="0"/>
          </a:xfrm>
          <a:prstGeom prst="line">
            <a:avLst/>
          </a:prstGeom>
          <a:noFill/>
          <a:ln w="9525">
            <a:solidFill>
              <a:srgbClr val="E8E0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mclaw · 内部解读与共创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515600" y="6510528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8872" cy="566928"/>
          </a:xfrm>
          <a:prstGeom prst="rect">
            <a:avLst/>
          </a:prstGeom>
          <a:solidFill>
            <a:srgbClr val="EE7C4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25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 · 是什么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7315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为什么需要它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349240" cy="4572000"/>
          </a:xfrm>
          <a:prstGeom prst="rect">
            <a:avLst/>
          </a:prstGeom>
          <a:solidFill>
            <a:srgbClr val="F0EBE4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76200" dist="25400" dir="5400000">
              <a:srgbClr val="1F1A17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行业痛点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22860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命令行门槛高，非技术人员用不了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035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303580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配置文件复杂，上手成本高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3785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378561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 AI 不懂地铁业务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4535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453542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 key 裸奔，白嫖风险大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5285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528523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无计费体系，无法商业化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1554480"/>
            <a:ext cx="5349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7C4B"/>
            </a:solidFill>
            <a:prstDash val="solid"/>
          </a:ln>
          <a:effectLst>
            <a:outerShdw sx="100000" sy="100000" kx="0" ky="0" algn="bl" rotWithShape="0" blurRad="127000" dist="38100" dir="5400000">
              <a:srgbClr val="1F1A17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1554480"/>
            <a:ext cx="73152" cy="4572000"/>
          </a:xfrm>
          <a:prstGeom prst="rect">
            <a:avLst/>
          </a:prstGeom>
          <a:solidFill>
            <a:srgbClr val="EE7C4B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5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mclaw 解法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3796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6B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49440" y="22860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图形化桌面，鼠标即用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37960" y="3035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6B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49440" y="303580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设置向导，零配置开箱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37960" y="3785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6B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49440" y="378561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预装地铁数据查询技能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37960" y="4535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6B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49440" y="453542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登录才能用，key 不外泄防白嫖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37960" y="5285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6B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49440" y="528523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三档会员计费 + 按次数据计费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6473952"/>
            <a:ext cx="11091672" cy="0"/>
          </a:xfrm>
          <a:prstGeom prst="line">
            <a:avLst/>
          </a:prstGeom>
          <a:noFill/>
          <a:ln w="9525">
            <a:solidFill>
              <a:srgbClr val="E8E0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mclaw · 内部解读与共创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515600" y="6510528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8872" cy="566928"/>
          </a:xfrm>
          <a:prstGeom prst="rect">
            <a:avLst/>
          </a:prstGeom>
          <a:solidFill>
            <a:srgbClr val="EE7C4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25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· 有什么用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7315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核心能力全景 · 八大模块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56032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38100" dir="5400000">
              <a:srgbClr val="1F1A17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73152" cy="1463040"/>
          </a:xfrm>
          <a:prstGeom prst="rect">
            <a:avLst/>
          </a:prstGeom>
          <a:solidFill>
            <a:srgbClr val="EE7C4B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1810512"/>
            <a:ext cx="384048" cy="384048"/>
          </a:xfrm>
          <a:prstGeom prst="ellipse">
            <a:avLst/>
          </a:prstGeom>
          <a:solidFill>
            <a:srgbClr val="EE7C4B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18288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230428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多模型聊天 · @agent 路由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92424" y="1554480"/>
            <a:ext cx="256032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38100" dir="5400000">
              <a:srgbClr val="1F1A17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92424" y="1554480"/>
            <a:ext cx="73152" cy="1463040"/>
          </a:xfrm>
          <a:prstGeom prst="rect">
            <a:avLst/>
          </a:prstGeom>
          <a:solidFill>
            <a:srgbClr val="345B7A"/>
          </a:solidFill>
          <a:ln/>
        </p:spPr>
      </p:sp>
      <p:sp>
        <p:nvSpPr>
          <p:cNvPr id="13" name="Shape 11"/>
          <p:cNvSpPr/>
          <p:nvPr/>
        </p:nvSpPr>
        <p:spPr>
          <a:xfrm>
            <a:off x="3648456" y="1810512"/>
            <a:ext cx="384048" cy="384048"/>
          </a:xfrm>
          <a:prstGeom prst="ellipse">
            <a:avLst/>
          </a:prstGeom>
          <a:solidFill>
            <a:srgbClr val="345B7A"/>
          </a:solidFill>
          <a:ln/>
        </p:spPr>
      </p:sp>
      <p:sp>
        <p:nvSpPr>
          <p:cNvPr id="14" name="Text 12"/>
          <p:cNvSpPr/>
          <p:nvPr/>
        </p:nvSpPr>
        <p:spPr>
          <a:xfrm>
            <a:off x="3648456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69664" y="18288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169664" y="230428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云端管理 · auto 智能路由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36208" y="1554480"/>
            <a:ext cx="256032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38100" dir="5400000">
              <a:srgbClr val="1F1A17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36208" y="1554480"/>
            <a:ext cx="73152" cy="1463040"/>
          </a:xfrm>
          <a:prstGeom prst="rect">
            <a:avLst/>
          </a:prstGeom>
          <a:solidFill>
            <a:srgbClr val="3A6B5A"/>
          </a:solidFill>
          <a:ln/>
        </p:spPr>
      </p:sp>
      <p:sp>
        <p:nvSpPr>
          <p:cNvPr id="19" name="Shape 17"/>
          <p:cNvSpPr/>
          <p:nvPr/>
        </p:nvSpPr>
        <p:spPr>
          <a:xfrm>
            <a:off x="6492240" y="1810512"/>
            <a:ext cx="384048" cy="384048"/>
          </a:xfrm>
          <a:prstGeom prst="ellipse">
            <a:avLst/>
          </a:prstGeom>
          <a:solidFill>
            <a:srgbClr val="3A6B5A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13448" y="18288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13448" y="230428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小欧 / 精营有数 / 报告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079992" y="1554480"/>
            <a:ext cx="256032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38100" dir="5400000">
              <a:srgbClr val="1F1A17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079992" y="1554480"/>
            <a:ext cx="73152" cy="1463040"/>
          </a:xfrm>
          <a:prstGeom prst="rect">
            <a:avLst/>
          </a:prstGeom>
          <a:solidFill>
            <a:srgbClr val="C9954A"/>
          </a:solidFill>
          <a:ln/>
        </p:spPr>
      </p:sp>
      <p:sp>
        <p:nvSpPr>
          <p:cNvPr id="25" name="Shape 23"/>
          <p:cNvSpPr/>
          <p:nvPr/>
        </p:nvSpPr>
        <p:spPr>
          <a:xfrm>
            <a:off x="9336024" y="1810512"/>
            <a:ext cx="384048" cy="384048"/>
          </a:xfrm>
          <a:prstGeom prst="ellipse">
            <a:avLst/>
          </a:prstGeom>
          <a:solidFill>
            <a:srgbClr val="C9954A"/>
          </a:solidFill>
          <a:ln/>
        </p:spPr>
      </p:sp>
      <p:sp>
        <p:nvSpPr>
          <p:cNvPr id="26" name="Text 24"/>
          <p:cNvSpPr/>
          <p:nvPr/>
        </p:nvSpPr>
        <p:spPr>
          <a:xfrm>
            <a:off x="9336024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857232" y="18288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857232" y="230428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Cron 定时 · 自动化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3291840"/>
            <a:ext cx="256032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38100" dir="5400000">
              <a:srgbClr val="1F1A17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" y="3291840"/>
            <a:ext cx="73152" cy="1463040"/>
          </a:xfrm>
          <a:prstGeom prst="rect">
            <a:avLst/>
          </a:prstGeom>
          <a:solidFill>
            <a:srgbClr val="D95A2B"/>
          </a:solidFill>
          <a:ln/>
        </p:spPr>
      </p:sp>
      <p:sp>
        <p:nvSpPr>
          <p:cNvPr id="31" name="Shape 29"/>
          <p:cNvSpPr/>
          <p:nvPr/>
        </p:nvSpPr>
        <p:spPr>
          <a:xfrm>
            <a:off x="804672" y="3547872"/>
            <a:ext cx="384048" cy="384048"/>
          </a:xfrm>
          <a:prstGeom prst="ellipse">
            <a:avLst/>
          </a:prstGeom>
          <a:solidFill>
            <a:srgbClr val="D95A2B"/>
          </a:solidFill>
          <a:ln/>
        </p:spPr>
      </p:sp>
      <p:sp>
        <p:nvSpPr>
          <p:cNvPr id="32" name="Text 30"/>
          <p:cNvSpPr/>
          <p:nvPr/>
        </p:nvSpPr>
        <p:spPr>
          <a:xfrm>
            <a:off x="804672" y="3547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325880" y="3566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325880" y="404164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数据查询 · 文档处理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392424" y="3291840"/>
            <a:ext cx="256032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38100" dir="5400000">
              <a:srgbClr val="1F1A17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392424" y="3291840"/>
            <a:ext cx="73152" cy="1463040"/>
          </a:xfrm>
          <a:prstGeom prst="rect">
            <a:avLst/>
          </a:prstGeom>
          <a:solidFill>
            <a:srgbClr val="6B6259"/>
          </a:solidFill>
          <a:ln/>
        </p:spPr>
      </p:sp>
      <p:sp>
        <p:nvSpPr>
          <p:cNvPr id="37" name="Shape 35"/>
          <p:cNvSpPr/>
          <p:nvPr/>
        </p:nvSpPr>
        <p:spPr>
          <a:xfrm>
            <a:off x="3648456" y="3547872"/>
            <a:ext cx="384048" cy="384048"/>
          </a:xfrm>
          <a:prstGeom prst="ellipse">
            <a:avLst/>
          </a:prstGeom>
          <a:solidFill>
            <a:srgbClr val="6B6259"/>
          </a:solidFill>
          <a:ln/>
        </p:spPr>
      </p:sp>
      <p:sp>
        <p:nvSpPr>
          <p:cNvPr id="38" name="Text 36"/>
          <p:cNvSpPr/>
          <p:nvPr/>
        </p:nvSpPr>
        <p:spPr>
          <a:xfrm>
            <a:off x="3648456" y="3547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169664" y="3566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4169664" y="404164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多通道 · 按账号绑代理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36208" y="3291840"/>
            <a:ext cx="256032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38100" dir="5400000">
              <a:srgbClr val="1F1A17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236208" y="3291840"/>
            <a:ext cx="73152" cy="1463040"/>
          </a:xfrm>
          <a:prstGeom prst="rect">
            <a:avLst/>
          </a:prstGeom>
          <a:solidFill>
            <a:srgbClr val="EE7C4B"/>
          </a:solidFill>
          <a:ln/>
        </p:spPr>
      </p:sp>
      <p:sp>
        <p:nvSpPr>
          <p:cNvPr id="43" name="Shape 41"/>
          <p:cNvSpPr/>
          <p:nvPr/>
        </p:nvSpPr>
        <p:spPr>
          <a:xfrm>
            <a:off x="6492240" y="3547872"/>
            <a:ext cx="384048" cy="384048"/>
          </a:xfrm>
          <a:prstGeom prst="ellipse">
            <a:avLst/>
          </a:prstGeom>
          <a:solidFill>
            <a:srgbClr val="EE7C4B"/>
          </a:solidFill>
          <a:ln/>
        </p:spPr>
      </p:sp>
      <p:sp>
        <p:nvSpPr>
          <p:cNvPr id="44" name="Text 42"/>
          <p:cNvSpPr/>
          <p:nvPr/>
        </p:nvSpPr>
        <p:spPr>
          <a:xfrm>
            <a:off x="6492240" y="3547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013448" y="3566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梦境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7013448" y="404164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梦境创作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9079992" y="3291840"/>
            <a:ext cx="256032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38100" dir="5400000">
              <a:srgbClr val="1F1A17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9079992" y="3291840"/>
            <a:ext cx="73152" cy="1463040"/>
          </a:xfrm>
          <a:prstGeom prst="rect">
            <a:avLst/>
          </a:prstGeom>
          <a:solidFill>
            <a:srgbClr val="3A6B5A"/>
          </a:solidFill>
          <a:ln/>
        </p:spPr>
      </p:sp>
      <p:sp>
        <p:nvSpPr>
          <p:cNvPr id="49" name="Shape 47"/>
          <p:cNvSpPr/>
          <p:nvPr/>
        </p:nvSpPr>
        <p:spPr>
          <a:xfrm>
            <a:off x="9336024" y="3547872"/>
            <a:ext cx="384048" cy="384048"/>
          </a:xfrm>
          <a:prstGeom prst="ellipse">
            <a:avLst/>
          </a:prstGeom>
          <a:solidFill>
            <a:srgbClr val="3A6B5A"/>
          </a:solidFill>
          <a:ln/>
        </p:spPr>
      </p:sp>
      <p:sp>
        <p:nvSpPr>
          <p:cNvPr id="50" name="Text 48"/>
          <p:cNvSpPr/>
          <p:nvPr/>
        </p:nvSpPr>
        <p:spPr>
          <a:xfrm>
            <a:off x="9336024" y="3547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9857232" y="3566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9857232" y="404164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账户 / 订阅 / 代理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48640" y="6473952"/>
            <a:ext cx="11091672" cy="0"/>
          </a:xfrm>
          <a:prstGeom prst="line">
            <a:avLst/>
          </a:prstGeom>
          <a:noFill/>
          <a:ln w="9525">
            <a:solidFill>
              <a:srgbClr val="E8E0D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mclaw · 内部解读与共创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0515600" y="6510528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8872" cy="566928"/>
          </a:xfrm>
          <a:prstGeom prst="rect">
            <a:avLst/>
          </a:prstGeom>
          <a:solidFill>
            <a:srgbClr val="EE7C4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25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· 有什么用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7315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地铁行业四大能力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4068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38100" dir="5400000">
              <a:srgbClr val="1F1A17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73152" cy="2148840"/>
          </a:xfrm>
          <a:prstGeom prst="rect">
            <a:avLst/>
          </a:prstGeom>
          <a:solidFill>
            <a:srgbClr val="EE7C4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830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7C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965960" y="184708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地铁数据查询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965960" y="23317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18 类查询：画像 / 城市 / 线路 / 业态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965960" y="271576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含客流 / 人口 / 产业等经营数据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965960" y="3099816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后续持续扩展更多接口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1554480"/>
            <a:ext cx="544068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38100" dir="5400000">
              <a:srgbClr val="1F1A17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1554480"/>
            <a:ext cx="73152" cy="2148840"/>
          </a:xfrm>
          <a:prstGeom prst="rect">
            <a:avLst/>
          </a:prstGeom>
          <a:solidFill>
            <a:srgbClr val="3A6B5A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17830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6B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680960" y="184708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登录即用·防白嫖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680960" y="23317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必须登录才能用任何功能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680960" y="271576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云端模型 key 不外泄，绑定设备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680960" y="3099816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数据 key 与模型 key 两套隔离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544068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38100" dir="5400000">
              <a:srgbClr val="1F1A17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977640"/>
            <a:ext cx="73152" cy="2148840"/>
          </a:xfrm>
          <a:prstGeom prst="rect">
            <a:avLst/>
          </a:prstGeom>
          <a:solidFill>
            <a:srgbClr val="C9954A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2062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95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965960" y="427024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会员计费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965960" y="475488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三档套餐 × 日/周/月 token 池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965960" y="513892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1 积分 = 1 万 token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965960" y="5522976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自动选最合适的可用模型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63640" y="3977640"/>
            <a:ext cx="544068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38100" dir="5400000">
              <a:srgbClr val="1F1A17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63640" y="3977640"/>
            <a:ext cx="73152" cy="2148840"/>
          </a:xfrm>
          <a:prstGeom prst="rect">
            <a:avLst/>
          </a:prstGeom>
          <a:solidFill>
            <a:srgbClr val="345B7A"/>
          </a:solidFill>
          <a:ln/>
        </p:spPr>
      </p:sp>
      <p:sp>
        <p:nvSpPr>
          <p:cNvPr id="28" name="Text 26"/>
          <p:cNvSpPr/>
          <p:nvPr/>
        </p:nvSpPr>
        <p:spPr>
          <a:xfrm>
            <a:off x="6537960" y="42062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45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7680960" y="427024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品牌定制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680960" y="475488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地铁橙 #EE7C4B 品牌色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680960" y="513892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菜单两字化命名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680960" y="5522976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暗色默认 + 亮色自适应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8640" y="6473952"/>
            <a:ext cx="11091672" cy="0"/>
          </a:xfrm>
          <a:prstGeom prst="line">
            <a:avLst/>
          </a:prstGeom>
          <a:noFill/>
          <a:ln w="9525">
            <a:solidFill>
              <a:srgbClr val="E8E0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mclaw · 内部解读与共创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515600" y="6510528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8872" cy="566928"/>
          </a:xfrm>
          <a:prstGeom prst="rect">
            <a:avLst/>
          </a:prstGeom>
          <a:solidFill>
            <a:srgbClr val="EE7C4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25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· 怎么想的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7315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产品思路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167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38100" dir="5400000">
              <a:srgbClr val="1F1A17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801368"/>
            <a:ext cx="512064" cy="512064"/>
          </a:xfrm>
          <a:prstGeom prst="ellipse">
            <a:avLst/>
          </a:prstGeom>
          <a:solidFill>
            <a:srgbClr val="EE7C4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01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2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32" dirty="0"/>
          </a:p>
        </p:txBody>
      </p:sp>
      <p:sp>
        <p:nvSpPr>
          <p:cNvPr id="8" name="Text 6"/>
          <p:cNvSpPr/>
          <p:nvPr/>
        </p:nvSpPr>
        <p:spPr>
          <a:xfrm>
            <a:off x="1508760" y="172821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通用底座 + 行业预装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207568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不重新造轮子。OpenClaw 全功能保留，上叠地铁能力——类腾讯 QClaw / WorkBuddy 模式。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679192"/>
            <a:ext cx="1109167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38100" dir="5400000">
              <a:srgbClr val="1F1A17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2880360"/>
            <a:ext cx="512064" cy="512064"/>
          </a:xfrm>
          <a:prstGeom prst="ellipse">
            <a:avLst/>
          </a:prstGeom>
          <a:solidFill>
            <a:srgbClr val="3A6B5A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880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2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32" dirty="0"/>
          </a:p>
        </p:txBody>
      </p:sp>
      <p:sp>
        <p:nvSpPr>
          <p:cNvPr id="13" name="Text 11"/>
          <p:cNvSpPr/>
          <p:nvPr/>
        </p:nvSpPr>
        <p:spPr>
          <a:xfrm>
            <a:off x="1508760" y="28072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站在巨人肩膀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08760" y="31546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 OpenClaw 运行时、QClaw 架构、ooh-manus 行业内容，自己只做行业适配与商业化。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758184"/>
            <a:ext cx="1109167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38100" dir="5400000">
              <a:srgbClr val="1F1A17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959352"/>
            <a:ext cx="512064" cy="512064"/>
          </a:xfrm>
          <a:prstGeom prst="ellipse">
            <a:avLst/>
          </a:prstGeom>
          <a:solidFill>
            <a:srgbClr val="C9954A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9593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2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32" dirty="0"/>
          </a:p>
        </p:txBody>
      </p:sp>
      <p:sp>
        <p:nvSpPr>
          <p:cNvPr id="18" name="Text 16"/>
          <p:cNvSpPr/>
          <p:nvPr/>
        </p:nvSpPr>
        <p:spPr>
          <a:xfrm>
            <a:off x="1508760" y="3886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两端协同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8760" y="423367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桌面端（用户使用）+ Go 后端（服务支撑），职责清晰，独立演进。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837176"/>
            <a:ext cx="1109167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38100" dir="5400000">
              <a:srgbClr val="1F1A17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5038344"/>
            <a:ext cx="512064" cy="512064"/>
          </a:xfrm>
          <a:prstGeom prst="ellipse">
            <a:avLst/>
          </a:prstGeom>
          <a:solidFill>
            <a:srgbClr val="345B7A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0383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2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32" dirty="0"/>
          </a:p>
        </p:txBody>
      </p:sp>
      <p:sp>
        <p:nvSpPr>
          <p:cNvPr id="23" name="Text 21"/>
          <p:cNvSpPr/>
          <p:nvPr/>
        </p:nvSpPr>
        <p:spPr>
          <a:xfrm>
            <a:off x="1508760" y="49651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数据统一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508760" y="5312664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 API 从 Java 迁到 Go 后端，一套技术栈、一套鉴权、一套计费，长期省心。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6473952"/>
            <a:ext cx="11091672" cy="0"/>
          </a:xfrm>
          <a:prstGeom prst="line">
            <a:avLst/>
          </a:prstGeom>
          <a:noFill/>
          <a:ln w="9525">
            <a:solidFill>
              <a:srgbClr val="E8E0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mclaw · 内部解读与共创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515600" y="6510528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8872" cy="566928"/>
          </a:xfrm>
          <a:prstGeom prst="rect">
            <a:avLst/>
          </a:prstGeom>
          <a:solidFill>
            <a:srgbClr val="EE7C4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25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借鉴了谁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7315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四个参考对象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569464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38100" dir="5400000">
              <a:srgbClr val="1F1A17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2569464" cy="822960"/>
          </a:xfrm>
          <a:prstGeom prst="rect">
            <a:avLst/>
          </a:prstGeom>
          <a:solidFill>
            <a:srgbClr val="EE7C4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700784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底座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C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借鉴了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83464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AI 代理运行时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1520" y="3401568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Gateway 协议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31520" y="3968496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技能 / 插件系统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" y="4535424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控制电脑与浏览器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392424" y="1554480"/>
            <a:ext cx="2569464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38100" dir="5400000">
              <a:srgbClr val="1F1A17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92424" y="1554480"/>
            <a:ext cx="2569464" cy="822960"/>
          </a:xfrm>
          <a:prstGeom prst="rect">
            <a:avLst/>
          </a:prstGeom>
          <a:solidFill>
            <a:srgbClr val="345B7A"/>
          </a:solidFill>
          <a:ln/>
        </p:spPr>
      </p:sp>
      <p:sp>
        <p:nvSpPr>
          <p:cNvPr id="16" name="Text 14"/>
          <p:cNvSpPr/>
          <p:nvPr/>
        </p:nvSpPr>
        <p:spPr>
          <a:xfrm>
            <a:off x="3529584" y="1700784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QClaw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29584" y="2057400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75304" y="2514600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C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借鉴了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75304" y="283464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升级不重装的运行时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575304" y="3401568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可靠的数据存储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575304" y="3968496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可装卸的扩展机制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575304" y="4535424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灵活的进程调度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36208" y="1554480"/>
            <a:ext cx="2569464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38100" dir="5400000">
              <a:srgbClr val="1F1A17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36208" y="1554480"/>
            <a:ext cx="2569464" cy="822960"/>
          </a:xfrm>
          <a:prstGeom prst="rect">
            <a:avLst/>
          </a:prstGeom>
          <a:solidFill>
            <a:srgbClr val="3A6B5A"/>
          </a:solidFill>
          <a:ln/>
        </p:spPr>
      </p:sp>
      <p:sp>
        <p:nvSpPr>
          <p:cNvPr id="25" name="Text 23"/>
          <p:cNvSpPr/>
          <p:nvPr/>
        </p:nvSpPr>
        <p:spPr>
          <a:xfrm>
            <a:off x="6373368" y="1700784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ooh-manus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73368" y="2057400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19088" y="2514600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C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借鉴了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19088" y="283464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4 个数据查询 skill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19088" y="3401568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3 个专家灵魂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419088" y="3968496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小欧 / 精营有数 / 报告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419088" y="4535424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行业 know-how 来源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079992" y="1554480"/>
            <a:ext cx="2569464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38100" dir="5400000">
              <a:srgbClr val="1F1A17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079992" y="1554480"/>
            <a:ext cx="2569464" cy="822960"/>
          </a:xfrm>
          <a:prstGeom prst="rect">
            <a:avLst/>
          </a:prstGeom>
          <a:solidFill>
            <a:srgbClr val="C9954A"/>
          </a:solidFill>
          <a:ln/>
        </p:spPr>
      </p:sp>
      <p:sp>
        <p:nvSpPr>
          <p:cNvPr id="34" name="Text 32"/>
          <p:cNvSpPr/>
          <p:nvPr/>
        </p:nvSpPr>
        <p:spPr>
          <a:xfrm>
            <a:off x="9217152" y="1700784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 后端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217152" y="2057400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62872" y="2514600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C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借鉴了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262872" y="283464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18 个数据接口迁到 Go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9262872" y="3401568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ooh_data 数据源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9262872" y="3968496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按次计费模型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9262872" y="4535424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统一技术栈与鉴权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48640" y="6473952"/>
            <a:ext cx="11091672" cy="0"/>
          </a:xfrm>
          <a:prstGeom prst="line">
            <a:avLst/>
          </a:prstGeom>
          <a:noFill/>
          <a:ln w="9525">
            <a:solidFill>
              <a:srgbClr val="E8E0D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mclaw · 内部解读与共创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515600" y="6510528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8872" cy="566928"/>
          </a:xfrm>
          <a:prstGeom prst="rect">
            <a:avLst/>
          </a:prstGeom>
          <a:solidFill>
            <a:srgbClr val="EE7C4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25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借鉴了谁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7315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三个产品决策 · 借鉴 QClaw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4747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38100" dir="5400000">
              <a:srgbClr val="1F1A17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rgbClr val="EE7C4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4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升级不重装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5661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借鉴 QClaw：底层运行时独立打包，mclaw 升级时用户无感，不用重新下载安装整个应用。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52544" y="1600200"/>
            <a:ext cx="34747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38100" dir="5400000">
              <a:srgbClr val="1F1A17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26864" y="1874520"/>
            <a:ext cx="640080" cy="640080"/>
          </a:xfrm>
          <a:prstGeom prst="ellipse">
            <a:avLst/>
          </a:prstGeom>
          <a:solidFill>
            <a:srgbClr val="EE7C4B"/>
          </a:solidFill>
          <a:ln/>
        </p:spPr>
      </p:sp>
      <p:sp>
        <p:nvSpPr>
          <p:cNvPr id="12" name="Text 10"/>
          <p:cNvSpPr/>
          <p:nvPr/>
        </p:nvSpPr>
        <p:spPr>
          <a:xfrm>
            <a:off x="4626864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40" dirty="0"/>
          </a:p>
        </p:txBody>
      </p:sp>
      <p:sp>
        <p:nvSpPr>
          <p:cNvPr id="13" name="Text 11"/>
          <p:cNvSpPr/>
          <p:nvPr/>
        </p:nvSpPr>
        <p:spPr>
          <a:xfrm>
            <a:off x="4626864" y="26517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数据存得稳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26864" y="35661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借鉴 QClaw：本地数据用专业数据库存储，可靠不丢、可追溯，满足合规审计要求。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56448" y="1600200"/>
            <a:ext cx="34747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38100" dir="5400000">
              <a:srgbClr val="1F1A17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30768" y="1874520"/>
            <a:ext cx="640080" cy="640080"/>
          </a:xfrm>
          <a:prstGeom prst="ellipse">
            <a:avLst/>
          </a:prstGeom>
          <a:solidFill>
            <a:srgbClr val="EE7C4B"/>
          </a:solidFill>
          <a:ln/>
        </p:spPr>
      </p:sp>
      <p:sp>
        <p:nvSpPr>
          <p:cNvPr id="17" name="Text 15"/>
          <p:cNvSpPr/>
          <p:nvPr/>
        </p:nvSpPr>
        <p:spPr>
          <a:xfrm>
            <a:off x="8430768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40" dirty="0"/>
          </a:p>
        </p:txBody>
      </p:sp>
      <p:sp>
        <p:nvSpPr>
          <p:cNvPr id="18" name="Text 16"/>
          <p:cNvSpPr/>
          <p:nvPr/>
        </p:nvSpPr>
        <p:spPr>
          <a:xfrm>
            <a:off x="8430768" y="26517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功能可装卸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30768" y="35661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借鉴 QClaw：每个能力像装 App 一样独立安装卸载，用户按需扩展，互不干扰。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212080"/>
            <a:ext cx="11091672" cy="868680"/>
          </a:xfrm>
          <a:prstGeom prst="rect">
            <a:avLst/>
          </a:prstGeom>
          <a:solidFill>
            <a:srgbClr val="F0EBE4"/>
          </a:solidFill>
          <a:ln w="9525">
            <a:solidFill>
              <a:srgbClr val="E8E0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303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5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mclaw 现有优势（不需改）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559612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跨平台 Mac/Windows  ·  多语言界面  ·  内置用量遥测  ·  预装地铁数据技能与专家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6473952"/>
            <a:ext cx="11091672" cy="0"/>
          </a:xfrm>
          <a:prstGeom prst="line">
            <a:avLst/>
          </a:prstGeom>
          <a:noFill/>
          <a:ln w="9525">
            <a:solidFill>
              <a:srgbClr val="E8E0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mclaw · 内部解读与共创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515600" y="6510528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8872" cy="566928"/>
          </a:xfrm>
          <a:prstGeom prst="rect">
            <a:avLst/>
          </a:prstGeom>
          <a:solidFill>
            <a:srgbClr val="EE7C4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25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 · 怎么运转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7315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 · 两端协同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0292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38100" dir="5400000">
              <a:srgbClr val="1F1A17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37360"/>
            <a:ext cx="5029200" cy="640080"/>
          </a:xfrm>
          <a:prstGeom prst="rect">
            <a:avLst/>
          </a:prstGeom>
          <a:solidFill>
            <a:srgbClr val="EE7C4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745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mclaw 桌面端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5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Electron + React 19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834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用户主应用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32004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登录后使用：对话 / 查询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 / 技能 / 任务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底层 OpenClaw 服务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32704" y="2834640"/>
            <a:ext cx="923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E7C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-&gt;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6611112" y="1737360"/>
            <a:ext cx="50292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38100" dir="5400000">
              <a:srgbClr val="1F1A17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611112" y="1737360"/>
            <a:ext cx="5029200" cy="640080"/>
          </a:xfrm>
          <a:prstGeom prst="rect">
            <a:avLst/>
          </a:prstGeom>
          <a:solidFill>
            <a:srgbClr val="3A6B5A"/>
          </a:solidFill>
          <a:ln/>
        </p:spPr>
      </p:sp>
      <p:sp>
        <p:nvSpPr>
          <p:cNvPr id="14" name="Text 12"/>
          <p:cNvSpPr/>
          <p:nvPr/>
        </p:nvSpPr>
        <p:spPr>
          <a:xfrm>
            <a:off x="6793992" y="18745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 后端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839712" y="2514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5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 1.25 · PostgreSQL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39712" y="2834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mclaw-server/backend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39712" y="32004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登录鉴权 / 计费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模型代理 / 数据 API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钱包 / 订阅 / 官网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5029200"/>
            <a:ext cx="11091672" cy="1051560"/>
          </a:xfrm>
          <a:prstGeom prst="rect">
            <a:avLst/>
          </a:prstGeom>
          <a:solidFill>
            <a:srgbClr val="F0EBE4"/>
          </a:solidFill>
          <a:ln w="9525">
            <a:solidFill>
              <a:srgbClr val="E8E0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5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两端如何协同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54406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桌面端登录 Go 后端，所有功能（对话 / 模型 / 数据查询 / 计费）都经后端鉴权与计费；后端另提供官网与管理后台，供用户管理账户、运营管理配置。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6473952"/>
            <a:ext cx="11091672" cy="0"/>
          </a:xfrm>
          <a:prstGeom prst="line">
            <a:avLst/>
          </a:prstGeom>
          <a:noFill/>
          <a:ln w="9525">
            <a:solidFill>
              <a:srgbClr val="E8E0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mclaw · 内部解读与共创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515600" y="6510528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8872" cy="566928"/>
          </a:xfrm>
          <a:prstGeom prst="rect">
            <a:avLst/>
          </a:prstGeom>
          <a:solidFill>
            <a:srgbClr val="EE7C4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25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 · 怎么运转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7315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业务流程 · 用户怎么用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55168" y="182880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E7C4B"/>
            </a:solidFill>
            <a:prstDash val="solid"/>
          </a:ln>
          <a:effectLst>
            <a:outerShdw sx="100000" sy="100000" kx="0" ky="0" algn="bl" rotWithShape="0" blurRad="76200" dist="25400" dir="5400000">
              <a:srgbClr val="1F1A17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86688" y="1600200"/>
            <a:ext cx="457200" cy="457200"/>
          </a:xfrm>
          <a:prstGeom prst="ellipse">
            <a:avLst/>
          </a:prstGeom>
          <a:solidFill>
            <a:srgbClr val="EE7C4B"/>
          </a:solidFill>
          <a:ln/>
        </p:spPr>
      </p:sp>
      <p:sp>
        <p:nvSpPr>
          <p:cNvPr id="7" name="Text 5"/>
          <p:cNvSpPr/>
          <p:nvPr/>
        </p:nvSpPr>
        <p:spPr>
          <a:xfrm>
            <a:off x="1386688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6608" y="18288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设置向导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57120" y="21031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E7C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95448" y="182880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E7C4B"/>
            </a:solidFill>
            <a:prstDash val="solid"/>
          </a:ln>
          <a:effectLst>
            <a:outerShdw sx="100000" sy="100000" kx="0" ky="0" algn="bl" rotWithShape="0" blurRad="76200" dist="25400" dir="5400000">
              <a:srgbClr val="1F1A17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26968" y="1600200"/>
            <a:ext cx="457200" cy="457200"/>
          </a:xfrm>
          <a:prstGeom prst="ellipse">
            <a:avLst/>
          </a:prstGeom>
          <a:solidFill>
            <a:srgbClr val="EE7C4B"/>
          </a:solidFill>
          <a:ln/>
        </p:spPr>
      </p:sp>
      <p:sp>
        <p:nvSpPr>
          <p:cNvPr id="12" name="Text 10"/>
          <p:cNvSpPr/>
          <p:nvPr/>
        </p:nvSpPr>
        <p:spPr>
          <a:xfrm>
            <a:off x="3626968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86888" y="18288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 Go 后端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97400" y="21031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E7C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135728" y="182880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E7C4B"/>
            </a:solidFill>
            <a:prstDash val="solid"/>
          </a:ln>
          <a:effectLst>
            <a:outerShdw sx="100000" sy="100000" kx="0" ky="0" algn="bl" rotWithShape="0" blurRad="76200" dist="25400" dir="5400000">
              <a:srgbClr val="1F1A17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67248" y="1600200"/>
            <a:ext cx="457200" cy="457200"/>
          </a:xfrm>
          <a:prstGeom prst="ellipse">
            <a:avLst/>
          </a:prstGeom>
          <a:solidFill>
            <a:srgbClr val="EE7C4B"/>
          </a:solidFill>
          <a:ln/>
        </p:spPr>
      </p:sp>
      <p:sp>
        <p:nvSpPr>
          <p:cNvPr id="17" name="Text 15"/>
          <p:cNvSpPr/>
          <p:nvPr/>
        </p:nvSpPr>
        <p:spPr>
          <a:xfrm>
            <a:off x="5867248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27168" y="18288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同步云端模型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37680" y="21031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E7C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376008" y="182880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E7C4B"/>
            </a:solidFill>
            <a:prstDash val="solid"/>
          </a:ln>
          <a:effectLst>
            <a:outerShdw sx="100000" sy="100000" kx="0" ky="0" algn="bl" rotWithShape="0" blurRad="76200" dist="25400" dir="5400000">
              <a:srgbClr val="1F1A17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07528" y="1600200"/>
            <a:ext cx="457200" cy="457200"/>
          </a:xfrm>
          <a:prstGeom prst="ellipse">
            <a:avLst/>
          </a:prstGeom>
          <a:solidFill>
            <a:srgbClr val="EE7C4B"/>
          </a:solidFill>
          <a:ln/>
        </p:spPr>
      </p:sp>
      <p:sp>
        <p:nvSpPr>
          <p:cNvPr id="22" name="Text 20"/>
          <p:cNvSpPr/>
          <p:nvPr/>
        </p:nvSpPr>
        <p:spPr>
          <a:xfrm>
            <a:off x="8107528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67448" y="18288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自动配数据 key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77960" y="21031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E7C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616288" y="182880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E7C4B"/>
            </a:solidFill>
            <a:prstDash val="solid"/>
          </a:ln>
          <a:effectLst>
            <a:outerShdw sx="100000" sy="100000" kx="0" ky="0" algn="bl" rotWithShape="0" blurRad="76200" dist="25400" dir="5400000">
              <a:srgbClr val="1F1A17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347808" y="1600200"/>
            <a:ext cx="457200" cy="457200"/>
          </a:xfrm>
          <a:prstGeom prst="ellipse">
            <a:avLst/>
          </a:prstGeom>
          <a:solidFill>
            <a:srgbClr val="EE7C4B"/>
          </a:solidFill>
          <a:ln/>
        </p:spPr>
      </p:sp>
      <p:sp>
        <p:nvSpPr>
          <p:cNvPr id="27" name="Text 25"/>
          <p:cNvSpPr/>
          <p:nvPr/>
        </p:nvSpPr>
        <p:spPr>
          <a:xfrm>
            <a:off x="10347808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707728" y="18288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 / 查询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5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示例对话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379476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EE7C4B"/>
          </a:solidFill>
          <a:ln w="9525">
            <a:solidFill>
              <a:srgbClr val="F5C9B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379476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五四广场站的整体情况怎么样？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8640" y="443484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EE7C4B"/>
          </a:solidFill>
          <a:ln w="9525">
            <a:solidFill>
              <a:srgbClr val="F5C9B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443484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青岛 3 号线有哪些站？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48640" y="507492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EE7C4B"/>
          </a:solidFill>
          <a:ln w="9525">
            <a:solidFill>
              <a:srgbClr val="F5C9B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507492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五四广场站周边有没有星巴克？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686800" y="3794760"/>
            <a:ext cx="2953512" cy="2331720"/>
          </a:xfrm>
          <a:prstGeom prst="rect">
            <a:avLst/>
          </a:prstGeom>
          <a:solidFill>
            <a:srgbClr val="F0EBE4"/>
          </a:solidFill>
          <a:ln w="9525">
            <a:solidFill>
              <a:srgbClr val="E8E0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686800" y="3794760"/>
            <a:ext cx="73152" cy="2331720"/>
          </a:xfrm>
          <a:prstGeom prst="rect">
            <a:avLst/>
          </a:prstGeom>
          <a:solidFill>
            <a:srgbClr val="EE7C4B"/>
          </a:solidFill>
          <a:ln/>
        </p:spPr>
      </p:sp>
      <p:sp>
        <p:nvSpPr>
          <p:cNvPr id="38" name="Text 36"/>
          <p:cNvSpPr/>
          <p:nvPr/>
        </p:nvSpPr>
        <p:spPr>
          <a:xfrm>
            <a:off x="8915400" y="3977640"/>
            <a:ext cx="2606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不登录任何功能都用不了。登录后即可在对话中直接提问地铁数据，技能自动路由、数据 key 无感注入。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" y="6473952"/>
            <a:ext cx="11091672" cy="0"/>
          </a:xfrm>
          <a:prstGeom prst="line">
            <a:avLst/>
          </a:prstGeom>
          <a:noFill/>
          <a:ln w="9525">
            <a:solidFill>
              <a:srgbClr val="E8E0D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mclaw · 内部解读与共创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515600" y="6510528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8872" cy="566928"/>
          </a:xfrm>
          <a:prstGeom prst="rect">
            <a:avLst/>
          </a:prstGeom>
          <a:solidFill>
            <a:srgbClr val="EE7C4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25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 · 怎么运转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7315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计费模型 · 三档套餐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5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三档套餐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6675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737360"/>
                <a:gridCol w="1645920"/>
                <a:gridCol w="164592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档位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7C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 token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7C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月送积分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7C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并发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7C4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basic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 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1000 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ultra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4000 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5000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DE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75488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周期：日 = 自然日 / 周 = ISO 周一起 / 月 = 自然月，各自独立懒触发重置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589520" y="1554480"/>
            <a:ext cx="4050792" cy="4114800"/>
          </a:xfrm>
          <a:prstGeom prst="rect">
            <a:avLst/>
          </a:prstGeom>
          <a:solidFill>
            <a:srgbClr val="1F1A17"/>
          </a:solidFill>
          <a:ln/>
          <a:effectLst>
            <a:outerShdw sx="100000" sy="100000" kx="0" ky="0" algn="bl" rotWithShape="0" blurRad="127000" dist="38100" dir="5400000">
              <a:srgbClr val="1F1A17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81812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C9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换算口径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818120" y="21945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E7C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积分</a:t>
            </a:r>
            <a:endParaRPr lang="en-US" sz="6400" dirty="0"/>
          </a:p>
        </p:txBody>
      </p:sp>
      <p:sp>
        <p:nvSpPr>
          <p:cNvPr id="11" name="Text 8"/>
          <p:cNvSpPr/>
          <p:nvPr/>
        </p:nvSpPr>
        <p:spPr>
          <a:xfrm>
            <a:off x="7863840" y="3337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1 万 token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7863840" y="3977640"/>
            <a:ext cx="3474720" cy="0"/>
          </a:xfrm>
          <a:prstGeom prst="line">
            <a:avLst/>
          </a:prstGeom>
          <a:noFill/>
          <a:ln w="9525">
            <a:solidFill>
              <a:srgbClr val="4A3F3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63840" y="4160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9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 智能模型路由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863840" y="45262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按模型权重与可用性自动挑选最合适的模型，按实际用量记账。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6473952"/>
            <a:ext cx="11091672" cy="0"/>
          </a:xfrm>
          <a:prstGeom prst="line">
            <a:avLst/>
          </a:prstGeom>
          <a:noFill/>
          <a:ln w="9525">
            <a:solidFill>
              <a:srgbClr val="E8E0D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mclaw · 内部解读与共创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515600" y="6510528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8872" cy="566928"/>
          </a:xfrm>
          <a:prstGeom prst="rect">
            <a:avLst/>
          </a:prstGeom>
          <a:solidFill>
            <a:srgbClr val="EE7C4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25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 · 怎么运转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7315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数据查询流程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83768" y="192024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E7C4B"/>
            </a:solidFill>
            <a:prstDash val="solid"/>
          </a:ln>
          <a:effectLst>
            <a:outerShdw sx="100000" sy="100000" kx="0" ky="0" algn="bl" rotWithShape="0" blurRad="76200" dist="25400" dir="5400000">
              <a:srgbClr val="1F1A17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83768" y="1920240"/>
            <a:ext cx="1600200" cy="91440"/>
          </a:xfrm>
          <a:prstGeom prst="rect">
            <a:avLst/>
          </a:prstGeom>
          <a:solidFill>
            <a:srgbClr val="EE7C4B"/>
          </a:solidFill>
          <a:ln/>
        </p:spPr>
      </p:sp>
      <p:sp>
        <p:nvSpPr>
          <p:cNvPr id="7" name="Text 5"/>
          <p:cNvSpPr/>
          <p:nvPr/>
        </p:nvSpPr>
        <p:spPr>
          <a:xfrm>
            <a:off x="975208" y="192024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用户提问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438248" y="2148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E7C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648560" y="192024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45B7A"/>
            </a:solidFill>
            <a:prstDash val="solid"/>
          </a:ln>
          <a:effectLst>
            <a:outerShdw sx="100000" sy="100000" kx="0" ky="0" algn="bl" rotWithShape="0" blurRad="76200" dist="25400" dir="5400000">
              <a:srgbClr val="1F1A17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48560" y="1920240"/>
            <a:ext cx="1600200" cy="91440"/>
          </a:xfrm>
          <a:prstGeom prst="rect">
            <a:avLst/>
          </a:prstGeom>
          <a:solidFill>
            <a:srgbClr val="345B7A"/>
          </a:solidFill>
          <a:ln/>
        </p:spPr>
      </p:sp>
      <p:sp>
        <p:nvSpPr>
          <p:cNvPr id="11" name="Text 9"/>
          <p:cNvSpPr/>
          <p:nvPr/>
        </p:nvSpPr>
        <p:spPr>
          <a:xfrm>
            <a:off x="2740000" y="192024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Gateway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203040" y="2148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5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13352" y="192024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A6B5A"/>
            </a:solidFill>
            <a:prstDash val="solid"/>
          </a:ln>
          <a:effectLst>
            <a:outerShdw sx="100000" sy="100000" kx="0" ky="0" algn="bl" rotWithShape="0" blurRad="76200" dist="25400" dir="5400000">
              <a:srgbClr val="1F1A17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13352" y="1920240"/>
            <a:ext cx="1600200" cy="91440"/>
          </a:xfrm>
          <a:prstGeom prst="rect">
            <a:avLst/>
          </a:prstGeom>
          <a:solidFill>
            <a:srgbClr val="3A6B5A"/>
          </a:solidFill>
          <a:ln/>
        </p:spPr>
      </p:sp>
      <p:sp>
        <p:nvSpPr>
          <p:cNvPr id="15" name="Text 13"/>
          <p:cNvSpPr/>
          <p:nvPr/>
        </p:nvSpPr>
        <p:spPr>
          <a:xfrm>
            <a:off x="4504792" y="192024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数据查询 skill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67832" y="2148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B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78144" y="192024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954A"/>
            </a:solidFill>
            <a:prstDash val="solid"/>
          </a:ln>
          <a:effectLst>
            <a:outerShdw sx="100000" sy="100000" kx="0" ky="0" algn="bl" rotWithShape="0" blurRad="76200" dist="25400" dir="5400000">
              <a:srgbClr val="1F1A17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8144" y="1920240"/>
            <a:ext cx="1600200" cy="91440"/>
          </a:xfrm>
          <a:prstGeom prst="rect">
            <a:avLst/>
          </a:prstGeom>
          <a:solidFill>
            <a:srgbClr val="C9954A"/>
          </a:solidFill>
          <a:ln/>
        </p:spPr>
      </p:sp>
      <p:sp>
        <p:nvSpPr>
          <p:cNvPr id="19" name="Text 17"/>
          <p:cNvSpPr/>
          <p:nvPr/>
        </p:nvSpPr>
        <p:spPr>
          <a:xfrm>
            <a:off x="6269584" y="192024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 后端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/api/v1/data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732624" y="2148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95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942936" y="192024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5A2B"/>
            </a:solidFill>
            <a:prstDash val="solid"/>
          </a:ln>
          <a:effectLst>
            <a:outerShdw sx="100000" sy="100000" kx="0" ky="0" algn="bl" rotWithShape="0" blurRad="76200" dist="25400" dir="5400000">
              <a:srgbClr val="1F1A17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942936" y="1920240"/>
            <a:ext cx="1600200" cy="91440"/>
          </a:xfrm>
          <a:prstGeom prst="rect">
            <a:avLst/>
          </a:prstGeom>
          <a:solidFill>
            <a:srgbClr val="D95A2B"/>
          </a:solidFill>
          <a:ln/>
        </p:spPr>
      </p:sp>
      <p:sp>
        <p:nvSpPr>
          <p:cNvPr id="23" name="Text 21"/>
          <p:cNvSpPr/>
          <p:nvPr/>
        </p:nvSpPr>
        <p:spPr>
          <a:xfrm>
            <a:off x="8034376" y="192024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ooh_data 库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497416" y="2148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5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707728" y="192024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A6B5A"/>
            </a:solidFill>
            <a:prstDash val="solid"/>
          </a:ln>
          <a:effectLst>
            <a:outerShdw sx="100000" sy="100000" kx="0" ky="0" algn="bl" rotWithShape="0" blurRad="76200" dist="25400" dir="5400000">
              <a:srgbClr val="1F1A17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707728" y="1920240"/>
            <a:ext cx="1600200" cy="91440"/>
          </a:xfrm>
          <a:prstGeom prst="rect">
            <a:avLst/>
          </a:prstGeom>
          <a:solidFill>
            <a:srgbClr val="3A6B5A"/>
          </a:solidFill>
          <a:ln/>
        </p:spPr>
      </p:sp>
      <p:sp>
        <p:nvSpPr>
          <p:cNvPr id="27" name="Text 25"/>
          <p:cNvSpPr/>
          <p:nvPr/>
        </p:nvSpPr>
        <p:spPr>
          <a:xfrm>
            <a:off x="9799168" y="192024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返回结果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3657600"/>
            <a:ext cx="265176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38100" dir="5400000">
              <a:srgbClr val="1F1A17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3657600"/>
            <a:ext cx="73152" cy="2194560"/>
          </a:xfrm>
          <a:prstGeom prst="rect">
            <a:avLst/>
          </a:prstGeom>
          <a:solidFill>
            <a:srgbClr val="EE7C4B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3840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7C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类查询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77240" y="429768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车站画像 / 城市 / 线路 / 业态，覆盖客流、人口、产业等经营数据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319272" y="3657600"/>
            <a:ext cx="265176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38100" dir="5400000">
              <a:srgbClr val="1F1A17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319272" y="3657600"/>
            <a:ext cx="73152" cy="2194560"/>
          </a:xfrm>
          <a:prstGeom prst="rect">
            <a:avLst/>
          </a:prstGeom>
          <a:solidFill>
            <a:srgbClr val="3A6B5A"/>
          </a:solidFill>
          <a:ln/>
        </p:spPr>
      </p:sp>
      <p:sp>
        <p:nvSpPr>
          <p:cNvPr id="34" name="Text 32"/>
          <p:cNvSpPr/>
          <p:nvPr/>
        </p:nvSpPr>
        <p:spPr>
          <a:xfrm>
            <a:off x="3547872" y="3840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6B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 key 无感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547872" y="429768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 macOS Keychain，明文不落配置文件，mclaw 内自动注入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089904" y="3657600"/>
            <a:ext cx="265176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38100" dir="5400000">
              <a:srgbClr val="1F1A17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89904" y="3657600"/>
            <a:ext cx="73152" cy="2194560"/>
          </a:xfrm>
          <a:prstGeom prst="rect">
            <a:avLst/>
          </a:prstGeom>
          <a:solidFill>
            <a:srgbClr val="345B7A"/>
          </a:solidFill>
          <a:ln/>
        </p:spPr>
      </p:sp>
      <p:sp>
        <p:nvSpPr>
          <p:cNvPr id="38" name="Text 36"/>
          <p:cNvSpPr/>
          <p:nvPr/>
        </p:nvSpPr>
        <p:spPr>
          <a:xfrm>
            <a:off x="6318504" y="3840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5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通用可导出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318504" y="429768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 key 不绑客户端，用户可在 Postman / 其他工具直接使用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860536" y="3657600"/>
            <a:ext cx="265176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38100" dir="5400000">
              <a:srgbClr val="1F1A17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860536" y="3657600"/>
            <a:ext cx="73152" cy="2194560"/>
          </a:xfrm>
          <a:prstGeom prst="rect">
            <a:avLst/>
          </a:prstGeom>
          <a:solidFill>
            <a:srgbClr val="C9954A"/>
          </a:solidFill>
          <a:ln/>
        </p:spPr>
      </p:sp>
      <p:sp>
        <p:nvSpPr>
          <p:cNvPr id="42" name="Text 40"/>
          <p:cNvSpPr/>
          <p:nvPr/>
        </p:nvSpPr>
        <p:spPr>
          <a:xfrm>
            <a:off x="9089136" y="3840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95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按次计费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089136" y="429768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复用钱包 credit，调用 Go 后端 /api/v1/data/* 按次扣费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" y="6473952"/>
            <a:ext cx="11091672" cy="0"/>
          </a:xfrm>
          <a:prstGeom prst="line">
            <a:avLst/>
          </a:prstGeom>
          <a:noFill/>
          <a:ln w="9525">
            <a:solidFill>
              <a:srgbClr val="E8E0D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mclaw · 内部解读与共创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515600" y="6510528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EE7C4B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1371600"/>
            <a:ext cx="3657600" cy="3657600"/>
          </a:xfrm>
          <a:prstGeom prst="ellipse">
            <a:avLst/>
          </a:prstGeom>
          <a:solidFill>
            <a:srgbClr val="D95A2B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371600"/>
            <a:ext cx="457200" cy="54864"/>
          </a:xfrm>
          <a:prstGeom prst="rect">
            <a:avLst/>
          </a:prstGeom>
          <a:solidFill>
            <a:srgbClr val="EE7C4B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234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5C9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06 · 一起共创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 know-how，分散在每个人脑子里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41248" y="3200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C9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mclaw 提供了容器，但真正的行业智慧，需要大家一起蒸馏进来。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160520"/>
            <a:ext cx="274320" cy="274320"/>
          </a:xfrm>
          <a:prstGeom prst="ellipse">
            <a:avLst/>
          </a:prstGeom>
          <a:solidFill>
            <a:srgbClr val="EE7C4B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4114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一个人的经验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0" y="41148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7C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全公司的能力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4800600"/>
            <a:ext cx="274320" cy="274320"/>
          </a:xfrm>
          <a:prstGeom prst="ellipse">
            <a:avLst/>
          </a:prstGeom>
          <a:solidFill>
            <a:srgbClr val="3A6B5A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4754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重复的劳动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0" y="4754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6B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可复用的技能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5440680"/>
            <a:ext cx="274320" cy="274320"/>
          </a:xfrm>
          <a:prstGeom prst="ellipse">
            <a:avLst/>
          </a:prstGeom>
          <a:solidFill>
            <a:srgbClr val="C9954A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5394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私人的套路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29200" y="53949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5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标准的资产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515600" y="6510528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8872" cy="566928"/>
          </a:xfrm>
          <a:prstGeom prst="rect">
            <a:avLst/>
          </a:prstGeom>
          <a:solidFill>
            <a:srgbClr val="EE7C4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25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06 · 一起共创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7315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邀你一起共创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4068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38100" dir="5400000">
              <a:srgbClr val="1F1A17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73152" cy="2148840"/>
          </a:xfrm>
          <a:prstGeom prst="rect">
            <a:avLst/>
          </a:prstGeom>
          <a:solidFill>
            <a:srgbClr val="EE7C4B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810512"/>
            <a:ext cx="548640" cy="548640"/>
          </a:xfrm>
          <a:prstGeom prst="ellipse">
            <a:avLst/>
          </a:prstGeom>
          <a:solidFill>
            <a:srgbClr val="EE7C4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10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1554480" y="182880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贡献行业技能 / 专家灵魂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251460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把本职经验沉淀成可复用的 skill 或 agent 灵魂，不绑 mclaw，其他 AI 系统也能运行。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32004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E7C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类似小欧 / 精营有数 / 报告生成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63640" y="1554480"/>
            <a:ext cx="544068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38100" dir="5400000">
              <a:srgbClr val="1F1A17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1554480"/>
            <a:ext cx="73152" cy="2148840"/>
          </a:xfrm>
          <a:prstGeom prst="rect">
            <a:avLst/>
          </a:prstGeom>
          <a:solidFill>
            <a:srgbClr val="3A6B5A"/>
          </a:solidFill>
          <a:ln/>
        </p:spPr>
      </p:sp>
      <p:sp>
        <p:nvSpPr>
          <p:cNvPr id="14" name="Shape 12"/>
          <p:cNvSpPr/>
          <p:nvPr/>
        </p:nvSpPr>
        <p:spPr>
          <a:xfrm>
            <a:off x="6537960" y="1810512"/>
            <a:ext cx="548640" cy="548640"/>
          </a:xfrm>
          <a:prstGeom prst="ellipse">
            <a:avLst/>
          </a:prstGeom>
          <a:solidFill>
            <a:srgbClr val="3A6B5A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1810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7269480" y="182880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试用产品 + 提反馈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83680" y="251460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装上用起来，提 bug、提需求、提场景，做产品验证。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583680" y="32004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6B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你的真实使用是最好的需求来源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544068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38100" dir="5400000">
              <a:srgbClr val="1F1A17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977640"/>
            <a:ext cx="73152" cy="2148840"/>
          </a:xfrm>
          <a:prstGeom prst="rect">
            <a:avLst/>
          </a:prstGeom>
          <a:solidFill>
            <a:srgbClr val="C9954A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233672"/>
            <a:ext cx="548640" cy="548640"/>
          </a:xfrm>
          <a:prstGeom prst="ellipse">
            <a:avLst/>
          </a:prstGeom>
          <a:solidFill>
            <a:srgbClr val="C9954A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233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1554480" y="425196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共创产品方向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8680" y="493776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 mclaw 该往哪走、该加什么行业能力、优先级怎么排。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68680" y="56235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95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方向由使用者定义，不是闭门造车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63640" y="3977640"/>
            <a:ext cx="544068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38100" dir="5400000">
              <a:srgbClr val="1F1A17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63640" y="3977640"/>
            <a:ext cx="73152" cy="2148840"/>
          </a:xfrm>
          <a:prstGeom prst="rect">
            <a:avLst/>
          </a:prstGeom>
          <a:solidFill>
            <a:srgbClr val="345B7A"/>
          </a:solidFill>
          <a:ln/>
        </p:spPr>
      </p:sp>
      <p:sp>
        <p:nvSpPr>
          <p:cNvPr id="28" name="Shape 26"/>
          <p:cNvSpPr/>
          <p:nvPr/>
        </p:nvSpPr>
        <p:spPr>
          <a:xfrm>
            <a:off x="6537960" y="4233672"/>
            <a:ext cx="548640" cy="548640"/>
          </a:xfrm>
          <a:prstGeom prst="ellipse">
            <a:avLst/>
          </a:prstGeom>
          <a:solidFill>
            <a:srgbClr val="345B7A"/>
          </a:solidFill>
          <a:ln/>
        </p:spPr>
      </p:sp>
      <p:sp>
        <p:nvSpPr>
          <p:cNvPr id="29" name="Text 27"/>
          <p:cNvSpPr/>
          <p:nvPr/>
        </p:nvSpPr>
        <p:spPr>
          <a:xfrm>
            <a:off x="6537960" y="4233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20" dirty="0"/>
          </a:p>
        </p:txBody>
      </p:sp>
      <p:sp>
        <p:nvSpPr>
          <p:cNvPr id="30" name="Text 28"/>
          <p:cNvSpPr/>
          <p:nvPr/>
        </p:nvSpPr>
        <p:spPr>
          <a:xfrm>
            <a:off x="7269480" y="425196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开放数据 / 接口 / 资源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583680" y="493776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业务部门把数据源、业务接口、文档开放出来，供技能调用。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583680" y="56235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5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接 ooh_data 那套思路，接入即资产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6473952"/>
            <a:ext cx="11091672" cy="0"/>
          </a:xfrm>
          <a:prstGeom prst="line">
            <a:avLst/>
          </a:prstGeom>
          <a:noFill/>
          <a:ln w="9525">
            <a:solidFill>
              <a:srgbClr val="E8E0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mclaw · 内部解读与共创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515600" y="6510528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8872" cy="566928"/>
          </a:xfrm>
          <a:prstGeom prst="rect">
            <a:avLst/>
          </a:prstGeom>
          <a:solidFill>
            <a:srgbClr val="EE7C4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25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现状与路线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7315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现在到哪了，接下来去哪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34924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38100" dir="5400000">
              <a:srgbClr val="1F1A17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73152" cy="4572000"/>
          </a:xfrm>
          <a:prstGeom prst="rect">
            <a:avLst/>
          </a:prstGeom>
          <a:solidFill>
            <a:srgbClr val="3A6B5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6B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当前状态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v0.4.9-alpha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6060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6B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26060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两端就绪：mclaw 桌面端 + Go 后端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31546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6B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3154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数据查询 18 类接口调通（画像 / 经营）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77240" y="37033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6B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3703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会员计费三档 + 自动模型路由落地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77240" y="42519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6B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42519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云端模型登录绑定，key 不外泄防白嫖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77240" y="48006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6B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4800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品牌定制完成，地铁橙 + 菜单两字化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77240" y="53492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6B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5349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macOS / Windows 跨平台安装包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09360" y="1554480"/>
            <a:ext cx="5330952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38100" dir="5400000">
              <a:srgbClr val="1F1A17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09360" y="1554480"/>
            <a:ext cx="73152" cy="4572000"/>
          </a:xfrm>
          <a:prstGeom prst="rect">
            <a:avLst/>
          </a:prstGeom>
          <a:solidFill>
            <a:srgbClr val="EE7C4B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5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后续方向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53796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借鉴 QClaw + 行业深化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37960" y="26060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7C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03720" y="26060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升级不重装，底层运行时独立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537960" y="31546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7C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03720" y="3154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本地数据可靠存储 + 可追溯合规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537960" y="37033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7C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903720" y="3703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功能可装卸，建能力扩展市场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537960" y="42519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7C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03720" y="42519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更多数据 API：经营类 / 画像类持续扩展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537960" y="48006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7C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903720" y="4800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更多地铁行业 skill / 专家灵魂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537960" y="53492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7C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903720" y="5349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多工作区隔离 + 自动备份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48640" y="6473952"/>
            <a:ext cx="11091672" cy="0"/>
          </a:xfrm>
          <a:prstGeom prst="line">
            <a:avLst/>
          </a:prstGeom>
          <a:noFill/>
          <a:ln w="9525">
            <a:solidFill>
              <a:srgbClr val="E8E0D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mclaw · 内部解读与共创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515600" y="6510528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F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4572000" cy="4572000"/>
          </a:xfrm>
          <a:prstGeom prst="ellipse">
            <a:avLst/>
          </a:prstGeom>
          <a:solidFill>
            <a:srgbClr val="EE7C4B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57200"/>
            <a:ext cx="2560320" cy="2560320"/>
          </a:xfrm>
          <a:prstGeom prst="ellipse">
            <a:avLst/>
          </a:prstGeom>
          <a:solidFill>
            <a:srgbClr val="D95A2B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828800"/>
            <a:ext cx="457200" cy="54864"/>
          </a:xfrm>
          <a:prstGeom prst="rect">
            <a:avLst/>
          </a:prstGeom>
          <a:solidFill>
            <a:srgbClr val="EE7C4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0312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一起来，把 mclaw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蒸馏成地铁行业的 </a:t>
            </a:r>
            <a:pPr indent="0" marL="0">
              <a:buNone/>
            </a:pPr>
            <a:r>
              <a:rPr lang="en-US" sz="3000" b="1" dirty="0">
                <a:solidFill>
                  <a:srgbClr val="EE7C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操作系统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41248" y="4297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C9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你的每一个业务经验，都可能变成全公司可复用的能力。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120640"/>
            <a:ext cx="6400800" cy="0"/>
          </a:xfrm>
          <a:prstGeom prst="line">
            <a:avLst/>
          </a:prstGeom>
          <a:noFill/>
          <a:ln w="9525">
            <a:solidFill>
              <a:srgbClr val="4A3F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257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C9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参与方式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5577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联系产品 / 研发负责人  ·  提交你的 skill 想法  ·  申请试用账号  ·  加入共创群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63093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mclaw · Built for the metro industry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515600" y="6510528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2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/ 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mclaw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mclaw 产品解读与共创</dc:title>
  <dc:subject>PptxGenJS Presentation</dc:subject>
  <dc:creator>mclaw 团队</dc:creator>
  <cp:lastModifiedBy>mclaw 团队</cp:lastModifiedBy>
  <cp:revision>1</cp:revision>
  <dcterms:created xsi:type="dcterms:W3CDTF">2026-07-12T18:56:17Z</dcterms:created>
  <dcterms:modified xsi:type="dcterms:W3CDTF">2026-07-12T18:56:17Z</dcterms:modified>
</cp:coreProperties>
</file>